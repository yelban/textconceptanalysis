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96" r:id="rId2"/>
  </p:sldMasterIdLst>
  <p:notesMasterIdLst>
    <p:notesMasterId r:id="rId13"/>
  </p:notesMasterIdLst>
  <p:handoutMasterIdLst>
    <p:handoutMasterId r:id="rId14"/>
  </p:handoutMasterIdLst>
  <p:sldIdLst>
    <p:sldId id="267" r:id="rId3"/>
    <p:sldId id="279" r:id="rId4"/>
    <p:sldId id="257" r:id="rId5"/>
    <p:sldId id="259" r:id="rId6"/>
    <p:sldId id="284" r:id="rId7"/>
    <p:sldId id="280" r:id="rId8"/>
    <p:sldId id="281" r:id="rId9"/>
    <p:sldId id="282" r:id="rId10"/>
    <p:sldId id="283" r:id="rId11"/>
    <p:sldId id="27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430E937-7712-4C49-94ED-8B87B13F033D}">
          <p14:sldIdLst>
            <p14:sldId id="267"/>
            <p14:sldId id="279"/>
          </p14:sldIdLst>
        </p14:section>
        <p14:section name="團隊介紹" id="{D64332FC-E3B5-4C78-BB4D-C93477023343}">
          <p14:sldIdLst>
            <p14:sldId id="257"/>
          </p14:sldIdLst>
        </p14:section>
        <p14:section name="問題定義與目標說明" id="{384970D5-E1BC-4646-9A91-7463727FE9E8}">
          <p14:sldIdLst>
            <p14:sldId id="259"/>
            <p14:sldId id="284"/>
          </p14:sldIdLst>
        </p14:section>
        <p14:section name="AI 應用說明及技術架構" id="{890F988A-40D6-4389-BB78-858825EF2B03}">
          <p14:sldIdLst>
            <p14:sldId id="280"/>
          </p14:sldIdLst>
        </p14:section>
        <p14:section name="成果展示" id="{56FBAFF3-35F6-4291-98DF-EC1AFE8BD033}">
          <p14:sldIdLst>
            <p14:sldId id="281"/>
          </p14:sldIdLst>
        </p14:section>
        <p14:section name="實際效益" id="{16A7AACE-165B-47BD-9E9D-8EB150B4D36D}">
          <p14:sldIdLst>
            <p14:sldId id="282"/>
          </p14:sldIdLst>
        </p14:section>
        <p14:section name="未來發展與市場價值" id="{A205752F-3F88-4497-B3AF-7EECCE0955F7}">
          <p14:sldIdLst>
            <p14:sldId id="28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啟仁 李" initials="啟李" lastIdx="4" clrIdx="0">
    <p:extLst>
      <p:ext uri="{19B8F6BF-5375-455C-9EA6-DF929625EA0E}">
        <p15:presenceInfo xmlns:p15="http://schemas.microsoft.com/office/powerpoint/2012/main" userId="898b02f208e08a18" providerId="Windows Live"/>
      </p:ext>
    </p:extLst>
  </p:cmAuthor>
  <p:cmAuthor id="2" name="Derrik Chen" initials="DC" lastIdx="1" clrIdx="1">
    <p:extLst>
      <p:ext uri="{19B8F6BF-5375-455C-9EA6-DF929625EA0E}">
        <p15:presenceInfo xmlns:p15="http://schemas.microsoft.com/office/powerpoint/2012/main" userId="e9218bab5942a5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CB62"/>
    <a:srgbClr val="0F98B6"/>
    <a:srgbClr val="59B047"/>
    <a:srgbClr val="EE740B"/>
    <a:srgbClr val="FF1515"/>
    <a:srgbClr val="1145A0"/>
    <a:srgbClr val="47B65E"/>
    <a:srgbClr val="70AD46"/>
    <a:srgbClr val="458EC1"/>
    <a:srgbClr val="43A9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1" autoAdjust="0"/>
    <p:restoredTop sz="94667" autoAdjust="0"/>
  </p:normalViewPr>
  <p:slideViewPr>
    <p:cSldViewPr snapToGrid="0">
      <p:cViewPr varScale="1">
        <p:scale>
          <a:sx n="51" d="100"/>
          <a:sy n="51" d="100"/>
        </p:scale>
        <p:origin x="53" y="42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6" d="100"/>
        <a:sy n="13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7E887F3-4FCF-4F22-ECA4-FD14DEC43C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58F282-1741-75C9-D90C-878D8D425D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66473-AC5C-4A1F-BE8E-176976E169B8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FB66F9-983E-7ED1-D023-A4C1AF189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D113C0-7B4A-010B-4ED8-A98BA47329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6ABBA-92A7-4A57-954A-EE5A17313E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9703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929FF-0DA9-4EAA-A983-E5570217A23C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A523E-B332-4483-BAE4-18DA5FB953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15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E06B8-D893-3AB7-A5F1-C1582EA5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" y="2293620"/>
            <a:ext cx="10980420" cy="1729740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394C09-2E6F-2350-BFF8-FDE59D450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" y="4698366"/>
            <a:ext cx="10980420" cy="818514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BD5633-764B-4DD2-6E78-53EA4626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980" y="4229417"/>
            <a:ext cx="1800000" cy="266700"/>
          </a:xfrm>
        </p:spPr>
        <p:txBody>
          <a:bodyPr/>
          <a:lstStyle>
            <a:lvl1pPr algn="l">
              <a:defRPr/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92BE47-E643-1A7B-B3EA-F1E33084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C0ABBC-7EEB-4CD0-B331-987339E0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78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E3493-EA8D-BBD8-DF1D-007CE56A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2995136"/>
            <a:ext cx="3665220" cy="867728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950B80-3377-5BFA-70A0-93B063760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20" y="1112520"/>
            <a:ext cx="7597140" cy="5064443"/>
          </a:xfrm>
        </p:spPr>
        <p:txBody>
          <a:bodyPr anchor="ctr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43DF6-4D07-4498-546E-90A05D98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100" y="6111717"/>
            <a:ext cx="1800000" cy="266700"/>
          </a:xfrm>
        </p:spPr>
        <p:txBody>
          <a:bodyPr/>
          <a:lstStyle>
            <a:lvl1pPr algn="l">
              <a:defRPr/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CC8FC5-F1E1-DB87-4FC0-535E97E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960F0E-E806-88FA-5041-F87EE8B1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24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E3493-EA8D-BBD8-DF1D-007CE56A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960"/>
            <a:ext cx="10515600" cy="867728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950B80-3377-5BFA-70A0-93B06376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43DF6-4D07-4498-546E-90A05D98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CC8FC5-F1E1-DB87-4FC0-535E97E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960F0E-E806-88FA-5041-F87EE8B1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42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4AA1F-F06A-26E5-74B9-A481BCDC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0" y="205105"/>
            <a:ext cx="8900160" cy="800735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0A1003-6FEC-5606-B728-AD3B9AD8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8720"/>
            <a:ext cx="5181600" cy="4988243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B5BF4E-7D70-2CE9-5DFD-B31B72497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8720"/>
            <a:ext cx="5181600" cy="49882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4D7096-9346-4FFB-A6F9-7DAD7A3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7840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659911-6E6B-1111-F2F4-34427E84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47173E-AA5E-8599-CE22-ADD768B8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67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DED14-10D9-3E0C-7911-C30433B1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79158"/>
            <a:ext cx="10515600" cy="2852737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277828-D9A5-8B74-3603-1A0C3551A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5888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8B5A7E-8CF6-4B45-0D81-1D2F8322A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92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CC9C10-0735-2985-CC00-D954A560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AC050B-41E5-7549-B4BF-C2BE668E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66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80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6F2E-C8C6-F6EE-EDF0-AEE80C4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0" y="224472"/>
            <a:ext cx="8154988" cy="761999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BDE212-B2E4-6430-F447-F7E7F865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9EF4D5-DBA0-8762-64B2-2CCD6BA8C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4"/>
            <a:ext cx="5157787" cy="43376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CE55D5-B6EF-2038-69BE-88AF852F8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0465C9-AFBF-EFE1-8851-05E80F62F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4"/>
            <a:ext cx="5183188" cy="43376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F2FB35-9F3E-4D49-4EB8-7DF35555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B9DD7CC-81B2-4C32-7643-1C14202E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E39177-5FB5-0218-1F41-AE1D9655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52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E676D-875C-E6BA-5472-53565793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5104"/>
            <a:ext cx="10698480" cy="80073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7DE6584-8E95-1D59-64A9-62001C51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3BB11B-53B4-C31A-87EC-FCD4401E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F61D6C-486A-2D58-77EB-8352B01F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0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0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CF8F25-4F1F-FE50-F610-3BE25290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8066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CCF251-F4FD-B050-21DE-F17AB619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0D29B0-B542-9551-0E58-165C47F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0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4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CF8F25-4F1F-FE50-F610-3BE25290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3800" y="8097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CCF251-F4FD-B050-21DE-F17AB619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0D29B0-B542-9551-0E58-165C47F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E06B8-D893-3AB7-A5F1-C1582EA5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" y="2293620"/>
            <a:ext cx="10980420" cy="1729740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394C09-2E6F-2350-BFF8-FDE59D450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" y="4698366"/>
            <a:ext cx="10980420" cy="818514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BD5633-764B-4DD2-6E78-53EA4626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980" y="4229417"/>
            <a:ext cx="1800000" cy="266700"/>
          </a:xfrm>
        </p:spPr>
        <p:txBody>
          <a:bodyPr/>
          <a:lstStyle>
            <a:lvl1pPr algn="l">
              <a:defRPr/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92BE47-E643-1A7B-B3EA-F1E33084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C0ABBC-7EEB-4CD0-B331-987339E0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87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E3493-EA8D-BBD8-DF1D-007CE56A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2995136"/>
            <a:ext cx="3665220" cy="867728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950B80-3377-5BFA-70A0-93B063760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20" y="1112520"/>
            <a:ext cx="7597140" cy="5064443"/>
          </a:xfrm>
        </p:spPr>
        <p:txBody>
          <a:bodyPr anchor="ctr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43DF6-4D07-4498-546E-90A05D98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100" y="6111717"/>
            <a:ext cx="1800000" cy="266700"/>
          </a:xfrm>
        </p:spPr>
        <p:txBody>
          <a:bodyPr/>
          <a:lstStyle>
            <a:lvl1pPr algn="l">
              <a:defRPr/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CC8FC5-F1E1-DB87-4FC0-535E97E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960F0E-E806-88FA-5041-F87EE8B1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111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E3493-EA8D-BBD8-DF1D-007CE56A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960"/>
            <a:ext cx="10515600" cy="867728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950B80-3377-5BFA-70A0-93B06376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43DF6-4D07-4498-546E-90A05D98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CC8FC5-F1E1-DB87-4FC0-535E97E7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960F0E-E806-88FA-5041-F87EE8B1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025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4AA1F-F06A-26E5-74B9-A481BCDC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0" y="205105"/>
            <a:ext cx="8900160" cy="80073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0A1003-6FEC-5606-B728-AD3B9AD8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8720"/>
            <a:ext cx="5181600" cy="4988243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B5BF4E-7D70-2CE9-5DFD-B31B72497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8720"/>
            <a:ext cx="5181600" cy="49882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4D7096-9346-4FFB-A6F9-7DAD7A3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7840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659911-6E6B-1111-F2F4-34427E84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47173E-AA5E-8599-CE22-ADD768B8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132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DED14-10D9-3E0C-7911-C30433B1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79158"/>
            <a:ext cx="10515600" cy="2852737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277828-D9A5-8B74-3603-1A0C3551A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5888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8B5A7E-8CF6-4B45-0D81-1D2F8322A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92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CC9C10-0735-2985-CC00-D954A560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AC050B-41E5-7549-B4BF-C2BE668E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866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835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6F2E-C8C6-F6EE-EDF0-AEE80C4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0" y="224472"/>
            <a:ext cx="8154988" cy="761999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BDE212-B2E4-6430-F447-F7E7F865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9EF4D5-DBA0-8762-64B2-2CCD6BA8C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4"/>
            <a:ext cx="5157787" cy="43376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CE55D5-B6EF-2038-69BE-88AF852F8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0465C9-AFBF-EFE1-8851-05E80F62F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4"/>
            <a:ext cx="5183188" cy="43376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F2FB35-9F3E-4D49-4EB8-7DF35555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B9DD7CC-81B2-4C32-7643-1C14202E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E39177-5FB5-0218-1F41-AE1D9655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147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E676D-875C-E6BA-5472-53565793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5104"/>
            <a:ext cx="10698480" cy="80073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7DE6584-8E95-1D59-64A9-62001C51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3BB11B-53B4-C31A-87EC-FCD4401E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F61D6C-486A-2D58-77EB-8352B01F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0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440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CF8F25-4F1F-FE50-F610-3BE25290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80660" y="6462395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CCF251-F4FD-B050-21DE-F17AB619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0D29B0-B542-9551-0E58-165C47F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00" y="6462395"/>
            <a:ext cx="1080000" cy="266700"/>
          </a:xfrm>
        </p:spPr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8227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CF8F25-4F1F-FE50-F610-3BE25290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3800" y="8097"/>
            <a:ext cx="1800000" cy="266700"/>
          </a:xfrm>
        </p:spPr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CCF251-F4FD-B050-21DE-F17AB619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0D29B0-B542-9551-0E58-165C47F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79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兩個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4D7096-9346-4FFB-A6F9-7DAD7A3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DD556-54EE-4900-BC9C-589B0DDD976A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659911-6E6B-1111-F2F4-34427E84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47173E-AA5E-8599-CE22-ADD768B8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4731-F62F-40C0-89FF-F8E4A9882650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082DE18B-3B1F-86EF-BC43-BD5863AE77AC}"/>
              </a:ext>
            </a:extLst>
          </p:cNvPr>
          <p:cNvGrpSpPr/>
          <p:nvPr userDrawn="1"/>
        </p:nvGrpSpPr>
        <p:grpSpPr>
          <a:xfrm>
            <a:off x="2683350" y="358175"/>
            <a:ext cx="222365" cy="176972"/>
            <a:chOff x="2859563" y="1235170"/>
            <a:chExt cx="222365" cy="176972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62B61EE8-FE7B-C8B0-A6A5-1E879317CC3A}"/>
                </a:ext>
              </a:extLst>
            </p:cNvPr>
            <p:cNvSpPr/>
            <p:nvPr userDrawn="1"/>
          </p:nvSpPr>
          <p:spPr>
            <a:xfrm>
              <a:off x="2934393" y="1287303"/>
              <a:ext cx="67945" cy="67945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23FB307D-F729-F307-89A3-B493B85DF35D}"/>
                </a:ext>
              </a:extLst>
            </p:cNvPr>
            <p:cNvSpPr txBox="1"/>
            <p:nvPr userDrawn="1"/>
          </p:nvSpPr>
          <p:spPr>
            <a:xfrm>
              <a:off x="2859563" y="1235170"/>
              <a:ext cx="222365" cy="176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550" b="1" dirty="0">
                  <a:solidFill>
                    <a:schemeClr val="tx1"/>
                  </a:solidFill>
                </a:rPr>
                <a:t>T</a:t>
              </a:r>
              <a:endParaRPr lang="zh-TW" altLang="en-US" sz="55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988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E05A7D8-EE61-B06F-50DD-63B7C232A09C}"/>
              </a:ext>
            </a:extLst>
          </p:cNvPr>
          <p:cNvSpPr/>
          <p:nvPr userDrawn="1"/>
        </p:nvSpPr>
        <p:spPr>
          <a:xfrm>
            <a:off x="0" y="763588"/>
            <a:ext cx="12192000" cy="443071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1200" y="864000"/>
            <a:ext cx="10983600" cy="828000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81200" y="1792799"/>
            <a:ext cx="10983600" cy="44316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6">
            <a:extLst>
              <a:ext uri="{FF2B5EF4-FFF2-40B4-BE49-F238E27FC236}">
                <a16:creationId xmlns:a16="http://schemas.microsoft.com/office/drawing/2014/main" id="{9743F093-DC0C-B759-81D7-16E16CD0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9938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F39EC-2025-424B-88CD-A4EB948D3380}" type="datetime1">
              <a:rPr lang="zh-TW" altLang="en-US"/>
              <a:pPr>
                <a:defRPr/>
              </a:pPr>
              <a:t>2025/12/18</a:t>
            </a:fld>
            <a:endParaRPr lang="zh-TW" altLang="en-US"/>
          </a:p>
        </p:txBody>
      </p:sp>
      <p:sp>
        <p:nvSpPr>
          <p:cNvPr id="6" name="頁尾版面配置區 7">
            <a:extLst>
              <a:ext uri="{FF2B5EF4-FFF2-40B4-BE49-F238E27FC236}">
                <a16:creationId xmlns:a16="http://schemas.microsoft.com/office/drawing/2014/main" id="{87699E6D-F645-D511-C473-08D70589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5288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8">
            <a:extLst>
              <a:ext uri="{FF2B5EF4-FFF2-40B4-BE49-F238E27FC236}">
                <a16:creationId xmlns:a16="http://schemas.microsoft.com/office/drawing/2014/main" id="{E3DBE506-56D5-1514-2E52-2FF7EBC4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065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FD8D373-5374-46DC-A2C2-C889B96CB39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846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文頁(純圖片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637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86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BEE91A-11E1-119E-CBBB-9CAA19AC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7B2406-F265-B1A9-9F3E-08EA1B672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75FD83-95F7-FAB3-2BD9-C4EBE0181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53800" y="30957"/>
            <a:ext cx="18000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406725-1E21-58BE-CE45-443F66F80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2395"/>
            <a:ext cx="41148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13EFBF-3B86-D361-E745-E22884CB3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3800" y="6462395"/>
            <a:ext cx="10800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A7304731-F62F-40C0-89FF-F8E4A988265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45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BEE91A-11E1-119E-CBBB-9CAA19AC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7B2406-F265-B1A9-9F3E-08EA1B672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75FD83-95F7-FAB3-2BD9-C4EBE0181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53800" y="30957"/>
            <a:ext cx="18000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BDD556-54EE-4900-BC9C-589B0DDD976A}" type="datetimeFigureOut">
              <a:rPr lang="zh-TW" altLang="en-US" smtClean="0"/>
              <a:pPr/>
              <a:t>2025/12/18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406725-1E21-58BE-CE45-443F66F80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62395"/>
            <a:ext cx="41148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13EFBF-3B86-D361-E745-E22884CB3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3800" y="6462395"/>
            <a:ext cx="1080000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A7304731-F62F-40C0-89FF-F8E4A988265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57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7" r:id="rId10"/>
    <p:sldLayoutId id="2147483708" r:id="rId11"/>
    <p:sldLayoutId id="2147483709" r:id="rId12"/>
    <p:sldLayoutId id="214748371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9039D-431D-55CD-7E13-B6F464CCF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133" y="2723926"/>
            <a:ext cx="10980420" cy="1729740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</a:rPr>
              <a:t>AI Demo Day </a:t>
            </a:r>
            <a:r>
              <a:rPr lang="zh-TW" altLang="en-US" b="1" dirty="0">
                <a:solidFill>
                  <a:schemeClr val="bg1"/>
                </a:solidFill>
              </a:rPr>
              <a:t>提案簡報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2AEABA-0739-D39A-32C5-3666CA0AA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133" y="4980754"/>
            <a:ext cx="10980420" cy="818514"/>
          </a:xfrm>
        </p:spPr>
        <p:txBody>
          <a:bodyPr>
            <a:normAutofit/>
          </a:bodyPr>
          <a:lstStyle/>
          <a:p>
            <a:r>
              <a:rPr lang="zh-TW" altLang="en-US" b="1" dirty="0"/>
              <a:t>專案名稱：</a:t>
            </a:r>
          </a:p>
        </p:txBody>
      </p:sp>
    </p:spTree>
    <p:extLst>
      <p:ext uri="{BB962C8B-B14F-4D97-AF65-F5344CB8AC3E}">
        <p14:creationId xmlns:p14="http://schemas.microsoft.com/office/powerpoint/2010/main" val="232959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406401" y="1960205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A5EB8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431801" y="1960205"/>
            <a:ext cx="0" cy="1132681"/>
          </a:xfrm>
          <a:prstGeom prst="line">
            <a:avLst/>
          </a:prstGeom>
          <a:noFill/>
          <a:ln w="38100">
            <a:solidFill>
              <a:srgbClr val="EE74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0402" y="2138004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A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0402" y="2384266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團隊介紹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0402" y="2701765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成員背景與分工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06401" y="3245286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A5EB8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12" name="Shape 8"/>
          <p:cNvSpPr/>
          <p:nvPr/>
        </p:nvSpPr>
        <p:spPr>
          <a:xfrm>
            <a:off x="431801" y="3245286"/>
            <a:ext cx="0" cy="1132681"/>
          </a:xfrm>
          <a:prstGeom prst="line">
            <a:avLst/>
          </a:prstGeom>
          <a:noFill/>
          <a:ln w="38100">
            <a:solidFill>
              <a:srgbClr val="0F98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0402" y="3423085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A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0402" y="3669347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問題定義與目標說明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0402" y="3986846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部門痛點、問題來源、提案目標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06401" y="4530367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B4FF">
                <a:alpha val="12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17" name="Shape 13"/>
          <p:cNvSpPr/>
          <p:nvPr/>
        </p:nvSpPr>
        <p:spPr>
          <a:xfrm>
            <a:off x="431801" y="4530367"/>
            <a:ext cx="0" cy="1132681"/>
          </a:xfrm>
          <a:prstGeom prst="line">
            <a:avLst/>
          </a:prstGeom>
          <a:noFill/>
          <a:ln w="38100">
            <a:solidFill>
              <a:srgbClr val="ACCB6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0402" y="4708167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0402" y="4954428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應用說明及技術架構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60402" y="5271928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 DAO 流程：Data → Analysis → Output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23001" y="1960205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A5EB8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22" name="Shape 18"/>
          <p:cNvSpPr/>
          <p:nvPr/>
        </p:nvSpPr>
        <p:spPr>
          <a:xfrm>
            <a:off x="6248401" y="1960205"/>
            <a:ext cx="0" cy="1132681"/>
          </a:xfrm>
          <a:prstGeom prst="line">
            <a:avLst/>
          </a:prstGeom>
          <a:noFill/>
          <a:ln w="38100">
            <a:solidFill>
              <a:srgbClr val="ACCB6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77002" y="2138004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A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77002" y="2384266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477002" y="2701765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畫面截圖、影片、產出範例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223001" y="3245286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B4FF">
                <a:alpha val="12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27" name="Shape 23"/>
          <p:cNvSpPr/>
          <p:nvPr/>
        </p:nvSpPr>
        <p:spPr>
          <a:xfrm>
            <a:off x="6248401" y="3245286"/>
            <a:ext cx="0" cy="1132681"/>
          </a:xfrm>
          <a:prstGeom prst="line">
            <a:avLst/>
          </a:prstGeom>
          <a:noFill/>
          <a:ln w="38100">
            <a:solidFill>
              <a:srgbClr val="EE74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77002" y="3423085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0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477002" y="3669347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實際效益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477002" y="3986846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降本 / 增效 / 新商模（含數據佐證）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223001" y="4530367"/>
            <a:ext cx="5562600" cy="1132681"/>
          </a:xfrm>
          <a:prstGeom prst="roundRect">
            <a:avLst>
              <a:gd name="adj" fmla="val 897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A5EB8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32" name="Shape 28"/>
          <p:cNvSpPr/>
          <p:nvPr/>
        </p:nvSpPr>
        <p:spPr>
          <a:xfrm>
            <a:off x="6248401" y="4530367"/>
            <a:ext cx="0" cy="1132681"/>
          </a:xfrm>
          <a:prstGeom prst="line">
            <a:avLst/>
          </a:prstGeom>
          <a:noFill/>
          <a:ln w="38100">
            <a:solidFill>
              <a:srgbClr val="0F98B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77002" y="4708167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0A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477002" y="4954428"/>
            <a:ext cx="5207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未來發展與市場價值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6477002" y="5271928"/>
            <a:ext cx="52075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400"/>
              </a:spcBef>
            </a:pPr>
            <a:r>
              <a:rPr lang="en-US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延伸性、可複製性、跨領域價值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團隊介紹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25448E-8D7C-8075-F4D2-AC5928546F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6F916EF-062D-B4ED-7BDF-1241316454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04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問題定義與目標說明</a:t>
            </a:r>
          </a:p>
        </p:txBody>
      </p:sp>
      <p:sp>
        <p:nvSpPr>
          <p:cNvPr id="28" name="內容版面配置區 27">
            <a:extLst>
              <a:ext uri="{FF2B5EF4-FFF2-40B4-BE49-F238E27FC236}">
                <a16:creationId xmlns:a16="http://schemas.microsoft.com/office/drawing/2014/main" id="{3E085B1F-69F2-B7E2-E9CA-582B3EAAE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7668" y="1764918"/>
            <a:ext cx="5181600" cy="4159894"/>
          </a:xfrm>
        </p:spPr>
        <p:txBody>
          <a:bodyPr/>
          <a:lstStyle/>
          <a:p>
            <a:pPr marL="0" indent="0">
              <a:lnSpc>
                <a:spcPts val="3360"/>
              </a:lnSpc>
              <a:buNone/>
            </a:pPr>
            <a:r>
              <a:rPr lang="en-US" altLang="zh-TW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zh-TW" alt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TW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提案目標</a:t>
            </a:r>
            <a:endParaRPr lang="en-US" altLang="zh-TW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r>
              <a:rPr lang="zh-TW" altLang="en-US" sz="2400" dirty="0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目標一：具體可衡量的改善目標</a:t>
            </a: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目標二：預期達成的效益指標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目標三：長期發展願景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5" name="內容版面配置區 34">
            <a:extLst>
              <a:ext uri="{FF2B5EF4-FFF2-40B4-BE49-F238E27FC236}">
                <a16:creationId xmlns:a16="http://schemas.microsoft.com/office/drawing/2014/main" id="{2EFD993C-5EC8-5108-0C5F-9EAAFC42C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101" y="1764918"/>
            <a:ext cx="5181600" cy="4159894"/>
          </a:xfrm>
        </p:spPr>
        <p:txBody>
          <a:bodyPr/>
          <a:lstStyle/>
          <a:p>
            <a:pPr marL="514350" indent="-514350">
              <a:lnSpc>
                <a:spcPts val="3360"/>
              </a:lnSpc>
              <a:buAutoNum type="arabicPeriod"/>
            </a:pPr>
            <a:r>
              <a:rPr lang="en-US" altLang="zh-TW" b="1" dirty="0" err="1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部門痛點</a:t>
            </a:r>
            <a:endParaRPr lang="en-US" altLang="zh-TW" dirty="0"/>
          </a:p>
          <a:p>
            <a:pPr>
              <a:lnSpc>
                <a:spcPts val="3360"/>
              </a:lnSpc>
            </a:pP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描述目前工作流程中遇到的具體問題、效率瓶頸或成本壓力</a:t>
            </a:r>
            <a:r>
              <a:rPr lang="zh-TW" altLang="en-US" sz="24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360"/>
              </a:lnSpc>
              <a:buNone/>
            </a:pPr>
            <a:r>
              <a:rPr lang="en-US" altLang="zh-TW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zh-TW" altLang="en-US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TW" b="1" dirty="0" err="1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問題來源</a:t>
            </a:r>
            <a:endParaRPr lang="en-US" altLang="zh-TW" dirty="0"/>
          </a:p>
          <a:p>
            <a:pPr>
              <a:lnSpc>
                <a:spcPts val="3360"/>
              </a:lnSpc>
            </a:pP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分析造成問題的根本原因，例如：流程繁瑣、人工作業、資訊分散等</a:t>
            </a:r>
            <a:r>
              <a:rPr lang="zh-TW" altLang="en-US" sz="2400" dirty="0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。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865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249DE-6C91-25A3-84E3-94E03CA9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5B378-4559-86B9-AEF9-F8316989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問題定義與目標說明</a:t>
            </a:r>
          </a:p>
        </p:txBody>
      </p:sp>
    </p:spTree>
    <p:extLst>
      <p:ext uri="{BB962C8B-B14F-4D97-AF65-F5344CB8AC3E}">
        <p14:creationId xmlns:p14="http://schemas.microsoft.com/office/powerpoint/2010/main" val="3161673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0DFADC-0A4D-2AE9-725F-387C0881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AI </a:t>
            </a:r>
            <a:r>
              <a:rPr lang="zh-TW" altLang="en-US" dirty="0"/>
              <a:t>應用說明及技術架構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C571DF-339B-FB69-41D6-99A36FCEBF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zh-TW" alt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TW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DAO </a:t>
            </a:r>
            <a:r>
              <a:rPr lang="en-US" altLang="zh-TW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流程架構</a:t>
            </a:r>
            <a:endParaRPr lang="en-US" altLang="zh-TW" dirty="0"/>
          </a:p>
          <a:p>
            <a:pPr>
              <a:lnSpc>
                <a:spcPts val="3360"/>
              </a:lnSpc>
            </a:pP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資料輸入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r>
              <a:rPr lang="en-US" altLang="zh-TW" sz="2400" dirty="0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AI </a:t>
            </a: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分析處理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360"/>
              </a:lnSpc>
            </a:pPr>
            <a:r>
              <a:rPr lang="en-US" altLang="zh-TW" sz="2400" dirty="0" err="1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產出結果</a:t>
            </a:r>
            <a:endParaRPr lang="en-US" altLang="zh-TW" sz="2400" dirty="0">
              <a:solidFill>
                <a:srgbClr val="5A6A7A"/>
              </a:solidFill>
              <a:latin typeface="Arial" pitchFamily="34" charset="0"/>
              <a:cs typeface="Arial" pitchFamily="34" charset="-120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051664-5BC1-AD19-5C09-A39FA41353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b="1" dirty="0"/>
              <a:t>2.</a:t>
            </a:r>
            <a:r>
              <a:rPr lang="zh-TW" altLang="en-US" b="1" dirty="0"/>
              <a:t> 技術邏輯</a:t>
            </a:r>
          </a:p>
          <a:p>
            <a:r>
              <a:rPr lang="zh-TW" altLang="en-US" sz="2400" dirty="0">
                <a:solidFill>
                  <a:srgbClr val="5A6A7A"/>
                </a:solidFill>
                <a:latin typeface="Arial" pitchFamily="34" charset="0"/>
                <a:cs typeface="Arial" pitchFamily="34" charset="-120"/>
              </a:rPr>
              <a:t>描述核心技術邏輯：如何處理輸入資料、使用什麼演算法或模型、如何產生輸出結果。</a:t>
            </a:r>
          </a:p>
        </p:txBody>
      </p:sp>
    </p:spTree>
    <p:extLst>
      <p:ext uri="{BB962C8B-B14F-4D97-AF65-F5344CB8AC3E}">
        <p14:creationId xmlns:p14="http://schemas.microsoft.com/office/powerpoint/2010/main" val="107947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0A7A3-0F50-7B2B-912A-176B07D2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成果展示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5D3D0B-2AFF-EA8C-63C0-D53C60075E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3A2B017-03F0-C86D-C4A5-DEA6CDA92B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19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3FFBCE-3649-03D5-7ABA-C2670B0C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實際效益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DF287D-B2B9-954B-2CC8-4A777633D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altLang="zh-TW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r>
              <a:rPr lang="en-US" altLang="zh-TW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導入前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018854-44D3-CE34-D9BB-97C054B4B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altLang="zh-TW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AFTER </a:t>
            </a:r>
            <a:r>
              <a:rPr lang="en-US" altLang="zh-TW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導入後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522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698097-38C4-4DB4-7FC0-EB348497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未來發展與市場價值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C82FD3-2A3B-106C-FCD2-CBB8E4363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85" y="1325253"/>
            <a:ext cx="3608540" cy="4988243"/>
          </a:xfrm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b="1" dirty="0" err="1">
                <a:latin typeface="Arial" pitchFamily="34" charset="0"/>
                <a:cs typeface="Arial" pitchFamily="34" charset="-120"/>
              </a:rPr>
              <a:t>現階段</a:t>
            </a: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0C341E-EBEF-D991-6C85-92C7BD101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0320" y="1325252"/>
            <a:ext cx="3608540" cy="4988243"/>
          </a:xfrm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b="1" dirty="0" err="1">
                <a:latin typeface="Arial" pitchFamily="34" charset="0"/>
                <a:cs typeface="Arial" pitchFamily="34" charset="-120"/>
              </a:rPr>
              <a:t>短期目標</a:t>
            </a: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FF27C524-25D2-4CEC-8AB1-37F31BC84AD0}"/>
              </a:ext>
            </a:extLst>
          </p:cNvPr>
          <p:cNvSpPr txBox="1">
            <a:spLocks/>
          </p:cNvSpPr>
          <p:nvPr/>
        </p:nvSpPr>
        <p:spPr>
          <a:xfrm>
            <a:off x="8230956" y="1325252"/>
            <a:ext cx="3608540" cy="49882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b="1" dirty="0" err="1">
                <a:latin typeface="Arial" pitchFamily="34" charset="0"/>
                <a:cs typeface="Arial" pitchFamily="34" charset="-120"/>
              </a:rPr>
              <a:t>中長期願景</a:t>
            </a: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Arial" pitchFamily="34" charset="0"/>
              <a:cs typeface="Arial" pitchFamily="34" charset="-120"/>
            </a:endParaRPr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7857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982146"/>
      </p:ext>
    </p:extLst>
  </p:cSld>
  <p:clrMapOvr>
    <a:masterClrMapping/>
  </p:clrMapOvr>
</p:sld>
</file>

<file path=ppt/theme/theme1.xml><?xml version="1.0" encoding="utf-8"?>
<a:theme xmlns:a="http://schemas.openxmlformats.org/drawingml/2006/main" name="2_專利專用版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對內報告使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9457</TotalTime>
  <Words>158</Words>
  <Application>Microsoft Office PowerPoint</Application>
  <PresentationFormat>寬螢幕</PresentationFormat>
  <Paragraphs>58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新細明體</vt:lpstr>
      <vt:lpstr>Arial</vt:lpstr>
      <vt:lpstr>Calibri</vt:lpstr>
      <vt:lpstr>2_專利專用版本</vt:lpstr>
      <vt:lpstr>3_對內報告使用</vt:lpstr>
      <vt:lpstr>AI Demo Day 提案簡報</vt:lpstr>
      <vt:lpstr>PowerPoint 簡報</vt:lpstr>
      <vt:lpstr>團隊介紹</vt:lpstr>
      <vt:lpstr>問題定義與目標說明</vt:lpstr>
      <vt:lpstr>問題定義與目標說明</vt:lpstr>
      <vt:lpstr>AI 應用說明及技術架構</vt:lpstr>
      <vt:lpstr>成果展示</vt:lpstr>
      <vt:lpstr>實際效益</vt:lpstr>
      <vt:lpstr>未來發展與市場價值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xiao wen liu</dc:creator>
  <cp:lastModifiedBy>JIM</cp:lastModifiedBy>
  <cp:revision>278</cp:revision>
  <dcterms:created xsi:type="dcterms:W3CDTF">2023-02-14T10:57:30Z</dcterms:created>
  <dcterms:modified xsi:type="dcterms:W3CDTF">2025-12-18T03:53:48Z</dcterms:modified>
</cp:coreProperties>
</file>